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nRisk-AI" id="{3F17FE6E-681F-4F67-5A93-A655275F9AE5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7F8-485F-9106-5E461FC417DD}"/>
              </c:ext>
            </c:extLst>
          </c:dPt>
          <c:dPt>
            <c:idx val="1"/>
            <c:bubble3D val="0"/>
            <c:spPr>
              <a:solidFill>
                <a:srgbClr val="A78BFA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7F8-485F-9106-5E461FC417DD}"/>
              </c:ext>
            </c:extLst>
          </c:dPt>
          <c:dPt>
            <c:idx val="2"/>
            <c:bubble3D val="0"/>
            <c:spPr>
              <a:solidFill>
                <a:srgbClr val="34D399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27F8-485F-9106-5E461FC417DD}"/>
              </c:ext>
            </c:extLst>
          </c:dPt>
          <c:dPt>
            <c:idx val="3"/>
            <c:bubble3D val="0"/>
            <c:spPr>
              <a:solidFill>
                <a:srgbClr val="FBBF24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27F8-485F-9106-5E461FC417DD}"/>
              </c:ext>
            </c:extLst>
          </c:dPt>
          <c:dPt>
            <c:idx val="4"/>
            <c:bubble3D val="0"/>
            <c:spPr>
              <a:solidFill>
                <a:srgbClr val="F87171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27F8-485F-9106-5E461FC417DD}"/>
              </c:ext>
            </c:extLst>
          </c:dPt>
          <c:dPt>
            <c:idx val="5"/>
            <c:bubble3D val="0"/>
            <c:spPr>
              <a:solidFill>
                <a:srgbClr val="7DD3FC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27F8-485F-9106-5E461FC417DD}"/>
              </c:ext>
            </c:extLst>
          </c:dPt>
          <c:dPt>
            <c:idx val="6"/>
            <c:bubble3D val="0"/>
            <c:spPr>
              <a:solidFill>
                <a:srgbClr val="C4B5FD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27F8-485F-9106-5E461FC417DD}"/>
              </c:ext>
            </c:extLst>
          </c:dPt>
          <c:dPt>
            <c:idx val="7"/>
            <c:bubble3D val="0"/>
            <c:spPr>
              <a:solidFill>
                <a:srgbClr val="6EE7B7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F8-485F-9106-5E461FC417DD}"/>
              </c:ext>
            </c:extLst>
          </c:dPt>
          <c:dPt>
            <c:idx val="8"/>
            <c:bubble3D val="0"/>
            <c:spPr>
              <a:solidFill>
                <a:srgbClr val="FDE68A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F8-485F-9106-5E461FC417DD}"/>
              </c:ext>
            </c:extLst>
          </c:dPt>
          <c:dPt>
            <c:idx val="9"/>
            <c:bubble3D val="0"/>
            <c:spPr>
              <a:solidFill>
                <a:srgbClr val="FCA5A5"/>
              </a:solidFill>
              <a:ln w="12700" cap="flat">
                <a:solidFill>
                  <a:srgbClr val="07111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27F8-485F-9106-5E461FC417DD}"/>
              </c:ext>
            </c:extLst>
          </c:dPt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7F8-485F-9106-5E461FC41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61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82296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822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1"/>
                </a:solidFill>
              </a:rPr>
              <a:t>FinRisk-AI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Financial Risk Intelligence and Tactical Index Rebalancing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financial news into portfolio action in seconds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&amp; Crisil Campus Hackathon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548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Shivakant Kurmi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Bhopal University</a:t>
            </a:r>
            <a:endParaRPr lang="en-US" sz="1400" dirty="0"/>
          </a:p>
        </p:txBody>
      </p:sp>
      <p:sp>
        <p:nvSpPr>
          <p:cNvPr id="7" name="Cover flow 1"/>
          <p:cNvSpPr txBox="1"/>
          <p:nvPr/>
        </p:nvSpPr>
        <p:spPr>
          <a:xfrm>
            <a:off x="8138160" y="109728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</a:t>
            </a:r>
            <a:endParaRPr lang="en-US" sz="2200" dirty="0"/>
          </a:p>
        </p:txBody>
      </p:sp>
      <p:sp>
        <p:nvSpPr>
          <p:cNvPr id="8" name="Cover arrow 1"/>
          <p:cNvSpPr/>
          <p:nvPr/>
        </p:nvSpPr>
        <p:spPr>
          <a:xfrm>
            <a:off x="9646920" y="2148840"/>
            <a:ext cx="365760" cy="45720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over flow 2"/>
          <p:cNvSpPr txBox="1"/>
          <p:nvPr/>
        </p:nvSpPr>
        <p:spPr>
          <a:xfrm>
            <a:off x="8138160" y="269748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accent6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Signal</a:t>
            </a:r>
            <a:endParaRPr lang="en-US" sz="2200" dirty="0"/>
          </a:p>
        </p:txBody>
      </p:sp>
      <p:sp>
        <p:nvSpPr>
          <p:cNvPr id="10" name="Cover arrow 2"/>
          <p:cNvSpPr/>
          <p:nvPr/>
        </p:nvSpPr>
        <p:spPr>
          <a:xfrm>
            <a:off x="9646920" y="3749040"/>
            <a:ext cx="365760" cy="45720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over flow 3"/>
          <p:cNvSpPr txBox="1"/>
          <p:nvPr/>
        </p:nvSpPr>
        <p:spPr>
          <a:xfrm>
            <a:off x="8138160" y="4297680"/>
            <a:ext cx="338328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unstructured news to explainable portfolio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The Problem: Markets Move Faster Than Manual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markets react instantly to: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announcements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events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earnings and guidance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Interest-rate and inflation signals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slow, inconsistent, and difficult to scale.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teams need more than a sentiment label. They need an explainable signal connected to an investment action.</a:t>
            </a:r>
            <a:endParaRPr lang="en-US" sz="1600" dirty="0"/>
          </a:p>
        </p:txBody>
      </p:sp>
      <p:sp>
        <p:nvSpPr>
          <p:cNvPr id="5" name="Challenge callout"/>
          <p:cNvSpPr/>
          <p:nvPr/>
        </p:nvSpPr>
        <p:spPr>
          <a:xfrm>
            <a:off x="6096000" y="1600200"/>
            <a:ext cx="551688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69860" y="1965960"/>
            <a:ext cx="516915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news is largely unstructured, arrives continuously, and often contains information that is difficult to translate into consistent, actionable risk signals.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time-consuming, difficult to scale, and susceptible to inconsistent interpretation. Traditional sentiment analysis alone may also fail to capture the significance of specific events and their potential market impact.</a:t>
            </a:r>
            <a:endParaRPr lang="en-US" sz="2000" dirty="0"/>
          </a:p>
        </p:txBody>
      </p:sp>
      <p:sp>
        <p:nvSpPr>
          <p:cNvPr id="8" name="Problem flow step 1"/>
          <p:cNvSpPr txBox="1"/>
          <p:nvPr/>
        </p:nvSpPr>
        <p:spPr>
          <a:xfrm>
            <a:off x="548640" y="5349240"/>
            <a:ext cx="338328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</a:t>
            </a:r>
            <a:endParaRPr lang="en-US" sz="1800" dirty="0"/>
          </a:p>
        </p:txBody>
      </p:sp>
      <p:sp>
        <p:nvSpPr>
          <p:cNvPr id="9" name="Problem flow arrow 1"/>
          <p:cNvSpPr/>
          <p:nvPr/>
        </p:nvSpPr>
        <p:spPr>
          <a:xfrm>
            <a:off x="4059936" y="561898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blem flow step 2"/>
          <p:cNvSpPr txBox="1"/>
          <p:nvPr/>
        </p:nvSpPr>
        <p:spPr>
          <a:xfrm>
            <a:off x="4389120" y="5349240"/>
            <a:ext cx="338328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delay</a:t>
            </a:r>
            <a:endParaRPr lang="en-US" sz="1800" dirty="0"/>
          </a:p>
        </p:txBody>
      </p:sp>
      <p:sp>
        <p:nvSpPr>
          <p:cNvPr id="11" name="Problem flow arrow 2"/>
          <p:cNvSpPr/>
          <p:nvPr/>
        </p:nvSpPr>
        <p:spPr>
          <a:xfrm>
            <a:off x="7900416" y="561898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roblem flow step 3"/>
          <p:cNvSpPr txBox="1"/>
          <p:nvPr/>
        </p:nvSpPr>
        <p:spPr>
          <a:xfrm>
            <a:off x="8229600" y="5349240"/>
            <a:ext cx="338328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reaction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The Solution: FinRisk-AI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FinRisk-AI converts financial news into structured risk intelligence:</a:t>
            </a:r>
            <a:endParaRPr lang="en-US" sz="1800" dirty="0"/>
          </a:p>
        </p:txBody>
      </p:sp>
      <p:sp>
        <p:nvSpPr>
          <p:cNvPr id="4" name="Step card 1"/>
          <p:cNvSpPr/>
          <p:nvPr/>
        </p:nvSpPr>
        <p:spPr>
          <a:xfrm>
            <a:off x="548640" y="196596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658368" y="20299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659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financial news from NewsAPI or synthetic fallback data</a:t>
            </a:r>
            <a:endParaRPr lang="en-US" sz="1800" dirty="0"/>
          </a:p>
        </p:txBody>
      </p:sp>
      <p:sp>
        <p:nvSpPr>
          <p:cNvPr id="7" name="Step card 2"/>
          <p:cNvSpPr/>
          <p:nvPr/>
        </p:nvSpPr>
        <p:spPr>
          <a:xfrm>
            <a:off x="548640" y="260604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658368" y="26700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0604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sentiment from -1.0 to +1.0 using FinBERT</a:t>
            </a:r>
            <a:endParaRPr lang="en-US" sz="1800" dirty="0"/>
          </a:p>
        </p:txBody>
      </p:sp>
      <p:sp>
        <p:nvSpPr>
          <p:cNvPr id="10" name="Step card 3"/>
          <p:cNvSpPr/>
          <p:nvPr/>
        </p:nvSpPr>
        <p:spPr>
          <a:xfrm>
            <a:off x="548640" y="324612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ep number 3"/>
          <p:cNvSpPr txBox="1"/>
          <p:nvPr/>
        </p:nvSpPr>
        <p:spPr>
          <a:xfrm>
            <a:off x="658368" y="33101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2461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event using zero-shot NLP</a:t>
            </a:r>
            <a:endParaRPr lang="en-US" sz="1800" dirty="0"/>
          </a:p>
        </p:txBody>
      </p:sp>
      <p:sp>
        <p:nvSpPr>
          <p:cNvPr id="13" name="Step card 4"/>
          <p:cNvSpPr/>
          <p:nvPr/>
        </p:nvSpPr>
        <p:spPr>
          <a:xfrm>
            <a:off x="548640" y="388620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tep number 4"/>
          <p:cNvSpPr txBox="1"/>
          <p:nvPr/>
        </p:nvSpPr>
        <p:spPr>
          <a:xfrm>
            <a:off x="658368" y="39502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862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an explainable impact score from 1 to 10</a:t>
            </a:r>
            <a:endParaRPr lang="en-US" sz="1800" dirty="0"/>
          </a:p>
        </p:txBody>
      </p:sp>
      <p:sp>
        <p:nvSpPr>
          <p:cNvPr id="16" name="Step card 5"/>
          <p:cNvSpPr/>
          <p:nvPr/>
        </p:nvSpPr>
        <p:spPr>
          <a:xfrm>
            <a:off x="548640" y="4526280"/>
            <a:ext cx="1106424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Step number 5"/>
          <p:cNvSpPr txBox="1"/>
          <p:nvPr/>
        </p:nvSpPr>
        <p:spPr>
          <a:xfrm>
            <a:off x="658368" y="4590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262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a 10-stock tactical index and normalize weights to 100%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connects information, intelligence, and portfolio action.</a:t>
            </a:r>
            <a:endParaRPr lang="en-US" sz="1600" dirty="0"/>
          </a:p>
        </p:txBody>
      </p:sp>
      <p:sp>
        <p:nvSpPr>
          <p:cNvPr id="20" name="Pipeline step 1"/>
          <p:cNvSpPr txBox="1"/>
          <p:nvPr/>
        </p:nvSpPr>
        <p:spPr>
          <a:xfrm>
            <a:off x="548640" y="5760720"/>
            <a:ext cx="199339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21" name="Pipeline arrow 1"/>
          <p:cNvSpPr/>
          <p:nvPr/>
        </p:nvSpPr>
        <p:spPr>
          <a:xfrm>
            <a:off x="2578608" y="591616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Pipeline step 2"/>
          <p:cNvSpPr txBox="1"/>
          <p:nvPr/>
        </p:nvSpPr>
        <p:spPr>
          <a:xfrm>
            <a:off x="2816352" y="5760720"/>
            <a:ext cx="199339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3" name="Pipeline arrow 2"/>
          <p:cNvSpPr/>
          <p:nvPr/>
        </p:nvSpPr>
        <p:spPr>
          <a:xfrm>
            <a:off x="4846320" y="591616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ipeline step 3"/>
          <p:cNvSpPr txBox="1"/>
          <p:nvPr/>
        </p:nvSpPr>
        <p:spPr>
          <a:xfrm>
            <a:off x="5084064" y="5760720"/>
            <a:ext cx="199339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</p:txBody>
      </p:sp>
      <p:sp>
        <p:nvSpPr>
          <p:cNvPr id="25" name="Pipeline arrow 3"/>
          <p:cNvSpPr/>
          <p:nvPr/>
        </p:nvSpPr>
        <p:spPr>
          <a:xfrm>
            <a:off x="7114032" y="591616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ipeline step 4"/>
          <p:cNvSpPr txBox="1"/>
          <p:nvPr/>
        </p:nvSpPr>
        <p:spPr>
          <a:xfrm>
            <a:off x="7351776" y="5760720"/>
            <a:ext cx="199339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27" name="Pipeline arrow 4"/>
          <p:cNvSpPr/>
          <p:nvPr/>
        </p:nvSpPr>
        <p:spPr>
          <a:xfrm>
            <a:off x="9381744" y="591616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Pipeline step 5"/>
          <p:cNvSpPr txBox="1"/>
          <p:nvPr/>
        </p:nvSpPr>
        <p:spPr>
          <a:xfrm>
            <a:off x="9619488" y="5760720"/>
            <a:ext cx="1993392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4D2D21-9937-4D71-C6CE-8E6038CEC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Module A: Tactical Index Rebalancer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S&amp;P 100 constituents with equal baseline exposure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logic: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 increases a stock's raw weight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decreases a stock's raw weight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sentiment keeps the adjustment close to baseline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weights are normalized so the portfolio always totals 100%</a:t>
            </a:r>
            <a:endParaRPr lang="en-US" sz="1800" dirty="0"/>
          </a:p>
        </p:txBody>
      </p:sp>
      <p:sp>
        <p:nvSpPr>
          <p:cNvPr id="4" name="Explainability note"/>
          <p:cNvSpPr/>
          <p:nvPr/>
        </p:nvSpPr>
        <p:spPr>
          <a:xfrm>
            <a:off x="548640" y="4983480"/>
            <a:ext cx="58521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983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the reason behind every allocation change: 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event type + impact score</a:t>
            </a:r>
            <a:endParaRPr lang="en-US" sz="1600" dirty="0"/>
          </a:p>
        </p:txBody>
      </p:sp>
      <p:graphicFrame>
        <p:nvGraphicFramePr>
          <p:cNvPr id="6" name="Baseline donut chart"/>
          <p:cNvGraphicFramePr/>
          <p:nvPr/>
        </p:nvGraphicFramePr>
        <p:xfrm>
          <a:off x="6949440" y="1508760"/>
          <a:ext cx="46634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54964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baseline: 10 stocks × 10%</a:t>
            </a:r>
            <a:endParaRPr lang="en-US" sz="1400" dirty="0"/>
          </a:p>
        </p:txBody>
      </p:sp>
      <p:sp>
        <p:nvSpPr>
          <p:cNvPr id="9" name="Positive signal card"/>
          <p:cNvSpPr/>
          <p:nvPr/>
        </p:nvSpPr>
        <p:spPr>
          <a:xfrm>
            <a:off x="6949440" y="4480560"/>
            <a:ext cx="224028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45720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SIGNAL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earnings: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increase tactical exposure</a:t>
            </a:r>
            <a:endParaRPr lang="en-US" sz="1400" dirty="0"/>
          </a:p>
        </p:txBody>
      </p:sp>
      <p:sp>
        <p:nvSpPr>
          <p:cNvPr id="11" name="Negative signal card"/>
          <p:cNvSpPr/>
          <p:nvPr/>
        </p:nvSpPr>
        <p:spPr>
          <a:xfrm>
            <a:off x="9372600" y="4480560"/>
            <a:ext cx="224028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0" y="45720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SIGNAL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tensions: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reduce tactical exposure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Results, Reliability, and Domain Impact</a:t>
            </a:r>
            <a:endParaRPr lang="en-US" sz="3200" dirty="0"/>
          </a:p>
        </p:txBody>
      </p:sp>
      <p:sp>
        <p:nvSpPr>
          <p:cNvPr id="3" name="Metric 1"/>
          <p:cNvSpPr/>
          <p:nvPr/>
        </p:nvSpPr>
        <p:spPr>
          <a:xfrm>
            <a:off x="54864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 to +1.0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6" name="Metric 2"/>
          <p:cNvSpPr/>
          <p:nvPr/>
        </p:nvSpPr>
        <p:spPr>
          <a:xfrm>
            <a:off x="335280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280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 10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35280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</a:t>
            </a:r>
            <a:endParaRPr lang="en-US" sz="1400" dirty="0"/>
          </a:p>
        </p:txBody>
      </p:sp>
      <p:sp>
        <p:nvSpPr>
          <p:cNvPr id="9" name="Metric 3"/>
          <p:cNvSpPr/>
          <p:nvPr/>
        </p:nvSpPr>
        <p:spPr>
          <a:xfrm>
            <a:off x="615696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5696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15696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</a:t>
            </a:r>
            <a:endParaRPr lang="en-US" sz="1400" dirty="0"/>
          </a:p>
        </p:txBody>
      </p:sp>
      <p:sp>
        <p:nvSpPr>
          <p:cNvPr id="12" name="Metric 4"/>
          <p:cNvSpPr/>
          <p:nvPr/>
        </p:nvSpPr>
        <p:spPr>
          <a:xfrm>
            <a:off x="8961120" y="1554480"/>
            <a:ext cx="2651760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1645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stocks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index</a:t>
            </a:r>
            <a:endParaRPr lang="en-US" sz="1400" dirty="0"/>
          </a:p>
        </p:txBody>
      </p:sp>
      <p:sp>
        <p:nvSpPr>
          <p:cNvPr id="15" name="Column card 1"/>
          <p:cNvSpPr/>
          <p:nvPr/>
        </p:nvSpPr>
        <p:spPr>
          <a:xfrm>
            <a:off x="548640" y="288036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600" dirty="0"/>
          </a:p>
        </p:txBody>
      </p:sp>
      <p:sp>
        <p:nvSpPr>
          <p:cNvPr id="17" name="Column card 2"/>
          <p:cNvSpPr/>
          <p:nvPr/>
        </p:nvSpPr>
        <p:spPr>
          <a:xfrm>
            <a:off x="4297680" y="288036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9" name="Column card 3"/>
          <p:cNvSpPr/>
          <p:nvPr/>
        </p:nvSpPr>
        <p:spPr>
          <a:xfrm>
            <a:off x="8046720" y="2880360"/>
            <a:ext cx="3566160" cy="2606040"/>
          </a:xfrm>
          <a:prstGeom prst="roundRect">
            <a:avLst>
              <a:gd name="adj" fmla="val 350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3832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-1.0 to +1.0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type: Geopolitical, Macroeconomic, Earnings, and more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score: 1 to 10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allocation: exactly 100%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3832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fallback data keeps the demo usable without an API key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classification works when models are unavailable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request timeouts protect the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polls the risk engine every 30 seconds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338328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tactical allocation with a transparent and auditable reason for every portfolio adjustment.</a:t>
            </a:r>
            <a:endParaRPr lang="en-US" sz="1800" dirty="0"/>
          </a:p>
        </p:txBody>
      </p:sp>
      <p:sp>
        <p:nvSpPr>
          <p:cNvPr id="24" name="Conclusion callout"/>
          <p:cNvSpPr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FinRisk-AI does not promise returns.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demonstrates a faster, explainable reaction mechanism for market risk.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Demo, Future Roadmap, and Call to Action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4" name="Demo flow step 1"/>
          <p:cNvSpPr txBox="1"/>
          <p:nvPr/>
        </p:nvSpPr>
        <p:spPr>
          <a:xfrm>
            <a:off x="548640" y="1874520"/>
            <a:ext cx="24917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article</a:t>
            </a:r>
            <a:endParaRPr lang="en-US" sz="1600" dirty="0"/>
          </a:p>
        </p:txBody>
      </p:sp>
      <p:sp>
        <p:nvSpPr>
          <p:cNvPr id="5" name="Demo flow arrow 1"/>
          <p:cNvSpPr/>
          <p:nvPr/>
        </p:nvSpPr>
        <p:spPr>
          <a:xfrm>
            <a:off x="3122676" y="212140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mo flow step 2"/>
          <p:cNvSpPr txBox="1"/>
          <p:nvPr/>
        </p:nvSpPr>
        <p:spPr>
          <a:xfrm>
            <a:off x="3406140" y="1874520"/>
            <a:ext cx="24917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7" name="Demo flow arrow 2"/>
          <p:cNvSpPr/>
          <p:nvPr/>
        </p:nvSpPr>
        <p:spPr>
          <a:xfrm>
            <a:off x="5980176" y="212140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emo flow step 3"/>
          <p:cNvSpPr txBox="1"/>
          <p:nvPr/>
        </p:nvSpPr>
        <p:spPr>
          <a:xfrm>
            <a:off x="6263640" y="1874520"/>
            <a:ext cx="24917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signal</a:t>
            </a:r>
            <a:endParaRPr lang="en-US" sz="1600" dirty="0"/>
          </a:p>
        </p:txBody>
      </p:sp>
      <p:sp>
        <p:nvSpPr>
          <p:cNvPr id="9" name="Demo flow arrow 3"/>
          <p:cNvSpPr/>
          <p:nvPr/>
        </p:nvSpPr>
        <p:spPr>
          <a:xfrm>
            <a:off x="8837676" y="2121408"/>
            <a:ext cx="201168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emo flow step 4"/>
          <p:cNvSpPr txBox="1"/>
          <p:nvPr/>
        </p:nvSpPr>
        <p:spPr>
          <a:xfrm>
            <a:off x="9121140" y="1874520"/>
            <a:ext cx="24917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backtesting and model performance evaluation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Sector, liquidity, and concentration constraints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loops and richer event taxonomy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cloud deployment and monitoring</a:t>
            </a:r>
            <a:endParaRPr lang="en-US" sz="1600" dirty="0"/>
          </a:p>
        </p:txBody>
      </p:sp>
      <p:sp>
        <p:nvSpPr>
          <p:cNvPr id="13" name="Closing card"/>
          <p:cNvSpPr/>
          <p:nvPr/>
        </p:nvSpPr>
        <p:spPr>
          <a:xfrm>
            <a:off x="7223760" y="2880360"/>
            <a:ext cx="438912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30175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FinRisk-AI turns market information into timely, explainable risk decisions.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343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69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Shivakant Kurmi | VIT Bhopal University | FinRisk-AI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https://github.com/shivakantkurmi/VITBhopal-ShivakantKurmi-hackathon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Risk Navy">
  <a:themeElements>
    <a:clrScheme name="FinRisk Navy">
      <a:dk1>
        <a:srgbClr val="07111F"/>
      </a:dk1>
      <a:lt1>
        <a:srgbClr val="FFFFFF"/>
      </a:lt1>
      <a:dk2>
        <a:srgbClr val="0F2238"/>
      </a:dk2>
      <a:lt2>
        <a:srgbClr val="B6C4D6"/>
      </a:lt2>
      <a:accent1>
        <a:srgbClr val="38BDF8"/>
      </a:accent1>
      <a:accent2>
        <a:srgbClr val="A78BFA"/>
      </a:accent2>
      <a:accent3>
        <a:srgbClr val="34D399"/>
      </a:accent3>
      <a:accent4>
        <a:srgbClr val="F87171"/>
      </a:accent4>
      <a:accent5>
        <a:srgbClr val="FBBF24"/>
      </a:accent5>
      <a:accent6>
        <a:srgbClr val="2B4261"/>
      </a:accent6>
      <a:hlink>
        <a:srgbClr val="38BDF8"/>
      </a:hlink>
      <a:folHlink>
        <a:srgbClr val="A78BFA"/>
      </a:folHlink>
    </a:clrScheme>
    <a:fontScheme name="FinRisk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577</Words>
  <Application>Microsoft Office PowerPoint</Application>
  <PresentationFormat>Widescreen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FinRisk Navy</vt:lpstr>
      <vt:lpstr>FinRisk-AI</vt:lpstr>
      <vt:lpstr>The Problem: Markets Move Faster Than Manual Analysis</vt:lpstr>
      <vt:lpstr>The Solution: FinRisk-AI</vt:lpstr>
      <vt:lpstr>PowerPoint Presentation</vt:lpstr>
      <vt:lpstr>Module A: Tactical Index Rebalancer</vt:lpstr>
      <vt:lpstr>Results, Reliability, and Domain Impact</vt:lpstr>
      <vt:lpstr>Demo, Future Roadmap, and Call to Action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FinRisk-AI</dc:title>
  <dc:subject>PptxGenJS Presentation</dc:subject>
  <dc:creator>Shivakant Kurmi</dc:creator>
  <cp:lastModifiedBy>SHIVAKANT KURMI</cp:lastModifiedBy>
  <cp:revision>3</cp:revision>
  <dcterms:created xsi:type="dcterms:W3CDTF">2026-10-10T16:01:58Z</dcterms:created>
  <dcterms:modified xsi:type="dcterms:W3CDTF">2026-10-11T08:36:42Z</dcterms:modified>
</cp:coreProperties>
</file>